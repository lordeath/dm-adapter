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"/>
          <p:cNvSpPr txBox="1"/>
          <p:nvPr/>
        </p:nvSpPr>
        <p:spPr>
          <a:xfrm>
            <a:off x="0" y="0"/>
            <a:ext cx="3000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"/>
          <p:cNvSpPr txBox="1"/>
          <p:nvPr/>
        </p:nvSpPr>
        <p:spPr>
          <a:xfrm>
            <a:off x="650000" y="1150000"/>
            <a:ext cx="9900000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8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MySQL 到达梦迁移培训</a:t>
            </a:r>
          </a:p>
          <a:p>
            <a:pPr algn="l">
              <a:buNone/>
            </a:pPr>
            <a:r>
              <a:rPr lang="zh-CN" sz="2400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dm-adapter 工具使用与功能说明</a:t>
            </a:r>
          </a:p>
        </p:txBody>
      </p:sp>
      <p:sp>
        <p:nvSpPr>
          <p:cNvPr id="13" name="Shape"/>
          <p:cNvSpPr txBox="1"/>
          <p:nvPr/>
        </p:nvSpPr>
        <p:spPr>
          <a:xfrm>
            <a:off x="690000" y="2900000"/>
            <a:ext cx="73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18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面向 Spring Boot + MyBatis + Maven 项目的低侵入适配辅助工具</a:t>
            </a:r>
          </a:p>
        </p:txBody>
      </p:sp>
      <p:sp>
        <p:nvSpPr>
          <p:cNvPr id="14" name="Shape"/>
          <p:cNvSpPr txBox="1"/>
          <p:nvPr/>
        </p:nvSpPr>
        <p:spPr>
          <a:xfrm>
            <a:off x="700000" y="3820000"/>
            <a:ext cx="1850000" cy="48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扫描</a:t>
            </a:r>
          </a:p>
        </p:txBody>
      </p:sp>
      <p:sp>
        <p:nvSpPr>
          <p:cNvPr id="15" name="Shape"/>
          <p:cNvSpPr txBox="1"/>
          <p:nvPr/>
        </p:nvSpPr>
        <p:spPr>
          <a:xfrm>
            <a:off x="2780000" y="3820000"/>
            <a:ext cx="1850000" cy="48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6" name="Shape"/>
          <p:cNvSpPr txBox="1"/>
          <p:nvPr/>
        </p:nvSpPr>
        <p:spPr>
          <a:xfrm>
            <a:off x="4860000" y="3820000"/>
            <a:ext cx="1850000" cy="4800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17" name="Shape"/>
          <p:cNvSpPr txBox="1"/>
          <p:nvPr/>
        </p:nvSpPr>
        <p:spPr>
          <a:xfrm>
            <a:off x="6940000" y="3820000"/>
            <a:ext cx="1850000" cy="480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Shape"/>
          <p:cNvSpPr txBox="1"/>
          <p:nvPr/>
        </p:nvSpPr>
        <p:spPr>
          <a:xfrm>
            <a:off x="700000" y="5600000"/>
            <a:ext cx="7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11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资料口径：README、迁移注意点、差异验证总结和当前测试规则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适用范围与边界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先确认项目类型，避免把工具能力用到不匹配的场景</a:t>
            </a:r>
          </a:p>
        </p:txBody>
      </p:sp>
      <p:sp>
        <p:nvSpPr>
          <p:cNvPr id="20" name="Shape"/>
          <p:cNvSpPr txBox="1"/>
          <p:nvPr/>
        </p:nvSpPr>
        <p:spPr>
          <a:xfrm>
            <a:off x="650000" y="1380000"/>
            <a:ext cx="5050000" cy="4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适用项目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Java 17 + Maven 多模块项目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Spring Boot + MyBatis XML mapper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MySQL 迁移到达梦 8 的 SQL 适配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需要保留原 mapper 并新增达梦路径</a:t>
            </a:r>
          </a:p>
        </p:txBody>
      </p:sp>
      <p:sp>
        <p:nvSpPr>
          <p:cNvPr id="21" name="Shape"/>
          <p:cNvSpPr txBox="1"/>
          <p:nvPr/>
        </p:nvSpPr>
        <p:spPr>
          <a:xfrm>
            <a:off x="6000000" y="1380000"/>
            <a:ext cx="5050000" cy="4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暂不覆盖 Gradle、JPA、复杂多数据源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DDL、存储过程、触发器主要依赖人工迁移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复杂动态 SQL 不盲猜，进入报告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目标库实例参数仍需人工确认</a:t>
            </a:r>
          </a:p>
        </p:txBody>
      </p:sp>
      <p:sp>
        <p:nvSpPr>
          <p:cNvPr id="22" name="Shape"/>
          <p:cNvSpPr txBox="1"/>
          <p:nvPr/>
        </p:nvSpPr>
        <p:spPr>
          <a:xfrm>
            <a:off x="820000" y="5750000"/>
            <a:ext cx="10000000" cy="43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原则：能安全转换才自动转换，不能确认就保留原 SQL 并写入人工确认报告</a:t>
            </a:r>
          </a:p>
        </p:txBody>
      </p:sp>
      <p:sp>
        <p:nvSpPr>
          <p:cNvPr id="23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24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推荐使用流程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开发侧先 dry-run 看影响，再应用迁移并跑达梦验证</a:t>
            </a:r>
          </a:p>
        </p:txBody>
      </p:sp>
      <p:sp>
        <p:nvSpPr>
          <p:cNvPr id="26" name="Shape"/>
          <p:cNvSpPr txBox="1"/>
          <p:nvPr/>
        </p:nvSpPr>
        <p:spPr>
          <a:xfrm>
            <a:off x="520000" y="1860000"/>
            <a:ext cx="1450000" cy="620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 CLI</a:t>
            </a:r>
          </a:p>
        </p:txBody>
      </p:sp>
      <p:cxnSp>
        <p:nvCxnSpPr>
          <p:cNvPr id="27" name="Arrow"/>
          <p:cNvCxnSpPr/>
          <p:nvPr/>
        </p:nvCxnSpPr>
        <p:spPr>
          <a:xfrm>
            <a:off x="1990000" y="2170000"/>
            <a:ext cx="250000" cy="0"/>
          </a:xfrm>
          <a:prstGeom prst="line">
            <a:avLst/>
          </a:prstGeom>
          <a:ln w="22000">
            <a:solidFill>
              <a:srgbClr val="5F6B7A"/>
            </a:solidFill>
            <a:tailEnd type="triangle"/>
          </a:ln>
        </p:spPr>
      </p:cxnSp>
      <p:sp>
        <p:nvSpPr>
          <p:cNvPr id="28" name="Shape"/>
          <p:cNvSpPr txBox="1"/>
          <p:nvPr/>
        </p:nvSpPr>
        <p:spPr>
          <a:xfrm>
            <a:off x="2340000" y="1860000"/>
            <a:ext cx="1450000" cy="620000"/>
          </a:xfrm>
          <a:prstGeom prst="rect">
            <a:avLst/>
          </a:prstGeom>
          <a:solidFill>
            <a:srgbClr val="007C89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scan</a:t>
            </a:r>
          </a:p>
        </p:txBody>
      </p:sp>
      <p:cxnSp>
        <p:nvCxnSpPr>
          <p:cNvPr id="29" name="Arrow"/>
          <p:cNvCxnSpPr/>
          <p:nvPr/>
        </p:nvCxnSpPr>
        <p:spPr>
          <a:xfrm>
            <a:off x="3810000" y="2170000"/>
            <a:ext cx="250000" cy="0"/>
          </a:xfrm>
          <a:prstGeom prst="line">
            <a:avLst/>
          </a:prstGeom>
          <a:ln w="22000">
            <a:solidFill>
              <a:srgbClr val="5F6B7A"/>
            </a:solidFill>
            <a:tailEnd type="triangle"/>
          </a:ln>
        </p:spPr>
      </p:cxnSp>
      <p:sp>
        <p:nvSpPr>
          <p:cNvPr id="30" name="Shape"/>
          <p:cNvSpPr txBox="1"/>
          <p:nvPr/>
        </p:nvSpPr>
        <p:spPr>
          <a:xfrm>
            <a:off x="4160000" y="1860000"/>
            <a:ext cx="1450000" cy="6200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migrate --dry-run</a:t>
            </a:r>
          </a:p>
        </p:txBody>
      </p:sp>
      <p:cxnSp>
        <p:nvCxnSpPr>
          <p:cNvPr id="31" name="Arrow"/>
          <p:cNvCxnSpPr/>
          <p:nvPr/>
        </p:nvCxnSpPr>
        <p:spPr>
          <a:xfrm>
            <a:off x="5630000" y="2170000"/>
            <a:ext cx="250000" cy="0"/>
          </a:xfrm>
          <a:prstGeom prst="line">
            <a:avLst/>
          </a:prstGeom>
          <a:ln w="22000">
            <a:solidFill>
              <a:srgbClr val="5F6B7A"/>
            </a:solidFill>
            <a:tailEnd type="triangle"/>
          </a:ln>
        </p:spPr>
      </p:cxnSp>
      <p:sp>
        <p:nvSpPr>
          <p:cNvPr id="32" name="Shape"/>
          <p:cNvSpPr txBox="1"/>
          <p:nvPr/>
        </p:nvSpPr>
        <p:spPr>
          <a:xfrm>
            <a:off x="5980000" y="1860000"/>
            <a:ext cx="1450000" cy="620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 报告</a:t>
            </a:r>
          </a:p>
        </p:txBody>
      </p:sp>
      <p:cxnSp>
        <p:nvCxnSpPr>
          <p:cNvPr id="33" name="Arrow"/>
          <p:cNvCxnSpPr/>
          <p:nvPr/>
        </p:nvCxnSpPr>
        <p:spPr>
          <a:xfrm>
            <a:off x="7450000" y="2170000"/>
            <a:ext cx="250000" cy="0"/>
          </a:xfrm>
          <a:prstGeom prst="line">
            <a:avLst/>
          </a:prstGeom>
          <a:ln w="22000">
            <a:solidFill>
              <a:srgbClr val="5F6B7A"/>
            </a:solidFill>
            <a:tailEnd type="triangle"/>
          </a:ln>
        </p:spPr>
      </p:cxnSp>
      <p:sp>
        <p:nvSpPr>
          <p:cNvPr id="34" name="Shape"/>
          <p:cNvSpPr txBox="1"/>
          <p:nvPr/>
        </p:nvSpPr>
        <p:spPr>
          <a:xfrm>
            <a:off x="7800000" y="1860000"/>
            <a:ext cx="1450000" cy="62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migrate</a:t>
            </a:r>
          </a:p>
        </p:txBody>
      </p:sp>
      <p:cxnSp>
        <p:nvCxnSpPr>
          <p:cNvPr id="35" name="Arrow"/>
          <p:cNvCxnSpPr/>
          <p:nvPr/>
        </p:nvCxnSpPr>
        <p:spPr>
          <a:xfrm>
            <a:off x="9270000" y="2170000"/>
            <a:ext cx="250000" cy="0"/>
          </a:xfrm>
          <a:prstGeom prst="line">
            <a:avLst/>
          </a:prstGeom>
          <a:ln w="22000">
            <a:solidFill>
              <a:srgbClr val="5F6B7A"/>
            </a:solidFill>
            <a:tailEnd type="triangle"/>
          </a:ln>
        </p:spPr>
      </p:cxnSp>
      <p:sp>
        <p:nvSpPr>
          <p:cNvPr id="36" name="Shape"/>
          <p:cNvSpPr txBox="1"/>
          <p:nvPr/>
        </p:nvSpPr>
        <p:spPr>
          <a:xfrm>
            <a:off x="9620000" y="1860000"/>
            <a:ext cx="1450000" cy="620000"/>
          </a:xfrm>
          <a:prstGeom prst="rect">
            <a:avLst/>
          </a:prstGeom>
          <a:solidFill>
            <a:srgbClr val="B83280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验证测试</a:t>
            </a:r>
          </a:p>
        </p:txBody>
      </p:sp>
      <p:sp>
        <p:nvSpPr>
          <p:cNvPr id="37" name="Shape"/>
          <p:cNvSpPr txBox="1"/>
          <p:nvPr/>
        </p:nvSpPr>
        <p:spPr>
          <a:xfrm>
            <a:off x="720000" y="3300000"/>
            <a:ext cx="31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先看清影响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`scan` 识别项目结构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`--dry-run` 只生成报告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检查自动转换与人工确认项</a:t>
            </a:r>
          </a:p>
        </p:txBody>
      </p:sp>
      <p:sp>
        <p:nvSpPr>
          <p:cNvPr id="38" name="Shape"/>
          <p:cNvSpPr txBox="1"/>
          <p:nvPr/>
        </p:nvSpPr>
        <p:spPr>
          <a:xfrm>
            <a:off x="4430000" y="3300000"/>
            <a:ext cx="31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再应用改动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补达梦 JDBC 依赖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 `mapper-dm`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生成/维护 `.dm-adapter` 配置</a:t>
            </a:r>
          </a:p>
        </p:txBody>
      </p:sp>
      <p:sp>
        <p:nvSpPr>
          <p:cNvPr id="39" name="Shape"/>
          <p:cNvSpPr txBox="1"/>
          <p:nvPr/>
        </p:nvSpPr>
        <p:spPr>
          <a:xfrm>
            <a:off x="8140000" y="3300000"/>
            <a:ext cx="31500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B83280"/>
                </a:solidFill>
                <a:latin typeface="Microsoft YaHei"/>
                <a:ea typeface="Microsoft YaHei"/>
                <a:cs typeface="Microsoft YaHei"/>
              </a:rPr>
              <a:t>最后验证闭环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 SQL 验证测试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连接达梦测试库执行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按失败分类处理问题</a:t>
            </a:r>
          </a:p>
        </p:txBody>
      </p:sp>
      <p:sp>
        <p:nvSpPr>
          <p:cNvPr id="40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41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命令速查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常用命令覆盖构建、扫描、迁移、报告和验证</a:t>
            </a:r>
          </a:p>
        </p:txBody>
      </p:sp>
      <p:sp>
        <p:nvSpPr>
          <p:cNvPr id="43" name="Shape"/>
          <p:cNvSpPr txBox="1"/>
          <p:nvPr/>
        </p:nvSpPr>
        <p:spPr>
          <a:xfrm>
            <a:off x="650000" y="1280000"/>
            <a:ext cx="11000000" cy="405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t" lIns="100000" tIns="100000" rIns="100000" bIns="100000">
            <a:spAutoFit/>
          </a:bodyPr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常用命令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mvn test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mvn -pl dm-adapter-cli -am package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/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java -jar dm-adapter-cli/target/dm-adapter-cli-0.1.0-SNAPSHOT.jar scan --project ./demo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java -jar dm-adapter-cli/target/dm-adapter-cli-0.1.0-SNAPSHOT.jar migrate --project ./demo --dry-run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java -jar dm-adapter-cli/target/dm-adapter-cli-0.1.0-SNAPSHOT.jar migrate --project ./demo --app-module demo-rest --schema sample-system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java -jar dm-adapter-cli/target/dm-adapter-cli-0.1.0-SNAPSHOT.jar report --project ./demo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java -jar dm-adapter-cli/target/dm-adapter-cli-0.1.0-SNAPSHOT.jar generate-validation-test --project ./demo --schema sample-system</a:t>
            </a:r>
          </a:p>
        </p:txBody>
      </p:sp>
      <p:sp>
        <p:nvSpPr>
          <p:cNvPr id="44" name="Shape"/>
          <p:cNvSpPr txBox="1"/>
          <p:nvPr/>
        </p:nvSpPr>
        <p:spPr>
          <a:xfrm>
            <a:off x="650000" y="5520000"/>
            <a:ext cx="525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`--project` 目标项目根目录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`--dry-run` 不修改目标文件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`--mapper-dir` 指定达梦 mapper 输出目录</a:t>
            </a:r>
          </a:p>
        </p:txBody>
      </p:sp>
      <p:sp>
        <p:nvSpPr>
          <p:cNvPr id="45" name="Shape"/>
          <p:cNvSpPr txBox="1"/>
          <p:nvPr/>
        </p:nvSpPr>
        <p:spPr>
          <a:xfrm>
            <a:off x="6420000" y="5520000"/>
            <a:ext cx="5250000" cy="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验证参数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`--app-module` 测试放置模块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`--schema` 达梦 schema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`--rewrite-config` upsert keyColumns 配置</a:t>
            </a:r>
          </a:p>
        </p:txBody>
      </p:sp>
      <p:sp>
        <p:nvSpPr>
          <p:cNvPr id="46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47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运行后会改什么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重点检查目标项目中新增和修改的文件</a:t>
            </a:r>
          </a:p>
        </p:txBody>
      </p:sp>
      <p:sp>
        <p:nvSpPr>
          <p:cNvPr id="49" name="Shape"/>
          <p:cNvSpPr txBox="1"/>
          <p:nvPr/>
        </p:nvSpPr>
        <p:spPr>
          <a:xfrm>
            <a:off x="650000" y="130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POM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识别目标模块 `pom.xml`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补充达梦 JDBC 驱动依赖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已有依赖时不会重复添加</a:t>
            </a:r>
          </a:p>
        </p:txBody>
      </p:sp>
      <p:sp>
        <p:nvSpPr>
          <p:cNvPr id="50" name="Shape"/>
          <p:cNvSpPr txBox="1"/>
          <p:nvPr/>
        </p:nvSpPr>
        <p:spPr>
          <a:xfrm>
            <a:off x="4400000" y="130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Mapper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复制 XML 到 `src/main/resources/mapper-dm`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接入 SQL 自动改写结果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不覆盖原始 mapper XML</a:t>
            </a:r>
          </a:p>
        </p:txBody>
      </p:sp>
      <p:sp>
        <p:nvSpPr>
          <p:cNvPr id="51" name="Shape"/>
          <p:cNvSpPr txBox="1"/>
          <p:nvPr/>
        </p:nvSpPr>
        <p:spPr>
          <a:xfrm>
            <a:off x="8150000" y="130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`.dm-adapter/dm-adapter-report.md`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`.dm-adapter/dm-adapter-report.json`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记录文件变化、SQL 变化、风险提示</a:t>
            </a:r>
          </a:p>
        </p:txBody>
      </p:sp>
      <p:sp>
        <p:nvSpPr>
          <p:cNvPr id="52" name="Shape"/>
          <p:cNvSpPr txBox="1"/>
          <p:nvPr/>
        </p:nvSpPr>
        <p:spPr>
          <a:xfrm>
            <a:off x="650000" y="345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重写配置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`.dm-adapter/sql-rewrite.yml`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维护 upsert/ignore 的 keyColumns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可结合达梦元数据自动推断</a:t>
            </a:r>
          </a:p>
        </p:txBody>
      </p:sp>
      <p:sp>
        <p:nvSpPr>
          <p:cNvPr id="53" name="Shape"/>
          <p:cNvSpPr txBox="1"/>
          <p:nvPr/>
        </p:nvSpPr>
        <p:spPr>
          <a:xfrm>
            <a:off x="4400000" y="345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B83280"/>
                </a:solidFill>
                <a:latin typeface="Microsoft YaHei"/>
                <a:ea typeface="Microsoft YaHei"/>
                <a:cs typeface="Microsoft YaHei"/>
              </a:rPr>
              <a:t>验证测试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 JUnit/MyBatis/JDBC 测试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生成 `.dm-adapter/sql-validation.yml`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普通 `mvn test` 默认不连库</a:t>
            </a:r>
          </a:p>
        </p:txBody>
      </p:sp>
      <p:sp>
        <p:nvSpPr>
          <p:cNvPr id="54" name="Shape"/>
          <p:cNvSpPr txBox="1"/>
          <p:nvPr/>
        </p:nvSpPr>
        <p:spPr>
          <a:xfrm>
            <a:off x="8150000" y="3450000"/>
            <a:ext cx="3400000" cy="1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007C89"/>
                </a:solidFill>
                <a:latin typeface="Microsoft YaHei"/>
                <a:ea typeface="Microsoft YaHei"/>
                <a:cs typeface="Microsoft YaHei"/>
              </a:rPr>
              <a:t>验证报告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`.dm-adapter/sql-validation-report.md`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`.dm-adapter/sql-validation-report.json`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失败按 SQL/缺对象/参数等分类</a:t>
            </a:r>
          </a:p>
        </p:txBody>
      </p:sp>
      <p:sp>
        <p:nvSpPr>
          <p:cNvPr id="55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56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Mapper 迁移策略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低侵入：保留原 MySQL 路径，新增达梦 mapper 路径</a:t>
            </a:r>
          </a:p>
        </p:txBody>
      </p:sp>
      <p:sp>
        <p:nvSpPr>
          <p:cNvPr id="58" name="Shape"/>
          <p:cNvSpPr txBox="1"/>
          <p:nvPr/>
        </p:nvSpPr>
        <p:spPr>
          <a:xfrm>
            <a:off x="650000" y="1380000"/>
            <a:ext cx="5050000" cy="4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定位与复制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优先读取 `mybatis.mapperLocations` / `mapper-locations`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支持 `classpath*:/mapper/*.xml` 跨模块配置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未配置时回退扫描资源目录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默认输出到 `src/main/resources/mapper-dm`</a:t>
            </a:r>
          </a:p>
        </p:txBody>
      </p:sp>
      <p:sp>
        <p:nvSpPr>
          <p:cNvPr id="59" name="Shape"/>
          <p:cNvSpPr txBox="1"/>
          <p:nvPr/>
        </p:nvSpPr>
        <p:spPr>
          <a:xfrm>
            <a:off x="6000000" y="1380000"/>
            <a:ext cx="5050000" cy="4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重写与保守边界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只改达梦副本，不反写原始 XML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SQL 中可确认规则才自动转换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动态标识符、复杂片段写入人工确认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可识别注解 SQL 时迁移到达梦 XML 路径</a:t>
            </a:r>
          </a:p>
        </p:txBody>
      </p:sp>
      <p:sp>
        <p:nvSpPr>
          <p:cNvPr id="60" name="Shape"/>
          <p:cNvSpPr txBox="1"/>
          <p:nvPr/>
        </p:nvSpPr>
        <p:spPr>
          <a:xfrm>
            <a:off x="990000" y="5700000"/>
            <a:ext cx="9400000" cy="52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t" lIns="100000" tIns="100000" rIns="100000" bIns="100000">
            <a:spAutoFit/>
          </a:bodyPr>
          <a:lstStyle/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原路径：src/main/resources/mapper/*.xml    达梦路径：src/main/resources/mapper-dm/*.xml</a:t>
            </a:r>
          </a:p>
        </p:txBody>
      </p:sp>
      <p:sp>
        <p:nvSpPr>
          <p:cNvPr id="61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62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SQL 主要规则：自动转换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典型规则以达梦实测失败和安全等价为前提</a:t>
            </a:r>
          </a:p>
        </p:txBody>
      </p:sp>
      <p:sp>
        <p:nvSpPr>
          <p:cNvPr id="64" name="Shape"/>
          <p:cNvSpPr txBox="1"/>
          <p:nvPr/>
        </p:nvSpPr>
        <p:spPr>
          <a:xfrm>
            <a:off x="650000" y="1220000"/>
            <a:ext cx="335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语法与标识符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双引号字符串 -&gt; 单引号字符串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单引号别名 -&gt; 达梦标识符别名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达梦特殊列名追加下划线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部分关键字标识符加双引号</a:t>
            </a:r>
          </a:p>
        </p:txBody>
      </p:sp>
      <p:sp>
        <p:nvSpPr>
          <p:cNvPr id="65" name="Shape"/>
          <p:cNvSpPr txBox="1"/>
          <p:nvPr/>
        </p:nvSpPr>
        <p:spPr>
          <a:xfrm>
            <a:off x="4380000" y="1220000"/>
            <a:ext cx="335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函数与表达式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`REGEXP` -&gt; `REGEXP_LIKE`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`DATE_ADD/DATE_SUB` -&gt; `DATEADD`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`CONVERT/CAST UNSIGNED` -&gt; 数值类型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`GROUP_CONCAT` -&gt; `LISTAGG`</a:t>
            </a:r>
          </a:p>
        </p:txBody>
      </p:sp>
      <p:sp>
        <p:nvSpPr>
          <p:cNvPr id="66" name="Shape"/>
          <p:cNvSpPr txBox="1"/>
          <p:nvPr/>
        </p:nvSpPr>
        <p:spPr>
          <a:xfrm>
            <a:off x="8110000" y="1220000"/>
            <a:ext cx="3350000" cy="2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查询与 DML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`LIKE #{p} "%"` 类拼接 -&gt; `||`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可识别 metadata SQL 改查达梦字典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`UPDATE ... ORDER BY ... LIMIT 1` 等价改写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`INSERT ... VALUE` -&gt; `VALUES`</a:t>
            </a:r>
          </a:p>
        </p:txBody>
      </p:sp>
      <p:sp>
        <p:nvSpPr>
          <p:cNvPr id="67" name="Shape"/>
          <p:cNvSpPr txBox="1"/>
          <p:nvPr/>
        </p:nvSpPr>
        <p:spPr>
          <a:xfrm>
            <a:off x="650000" y="3750000"/>
            <a:ext cx="11000000" cy="145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t" lIns="100000" tIns="100000" rIns="100000" bIns="100000">
            <a:spAutoFit/>
          </a:bodyPr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status = "ACTIVE"                         -&gt; status = 'ACTIVE'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name REGEXP '^a'                         -&gt; REGEXP_LIKE(name, '^a')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DATE_ADD(col, INTERVAL 1 DAY)             -&gt; DATEADD(DAY, 1, col)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GROUP_CONCAT(name ORDER BY id SEPARATOR ',') -&gt; LISTAGG(name, ',') WITHIN GROUP (ORDER BY id)</a:t>
            </a:r>
          </a:p>
        </p:txBody>
      </p:sp>
      <p:sp>
        <p:nvSpPr>
          <p:cNvPr id="68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69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SQL 主要规则：保留与人工确认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保守处理比盲目转换更重要</a:t>
            </a:r>
          </a:p>
        </p:txBody>
      </p:sp>
      <p:sp>
        <p:nvSpPr>
          <p:cNvPr id="71" name="Shape"/>
          <p:cNvSpPr txBox="1"/>
          <p:nvPr/>
        </p:nvSpPr>
        <p:spPr>
          <a:xfrm>
            <a:off x="650000" y="1250000"/>
            <a:ext cx="505000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已验证可执行时保留原样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`IFNULL`、`NOW()`、`CONCAT`、`CONCAT_WS`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`SELECT ... LIMIT`、反引号标识符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`FIND_IN_SET`、`DATE_FORMAT`、`STR_TO_DATE`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常见 JSON 函数、`UPDATE JOIN` / `DELETE JOIN`</a:t>
            </a:r>
          </a:p>
        </p:txBody>
      </p:sp>
      <p:sp>
        <p:nvSpPr>
          <p:cNvPr id="72" name="Shape"/>
          <p:cNvSpPr txBox="1"/>
          <p:nvPr/>
        </p:nvSpPr>
        <p:spPr>
          <a:xfrm>
            <a:off x="6000000" y="1250000"/>
            <a:ext cx="5050000" cy="2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B83280"/>
                </a:solidFill>
                <a:latin typeface="Microsoft YaHei"/>
                <a:ea typeface="Microsoft YaHei"/>
                <a:cs typeface="Microsoft YaHei"/>
              </a:rPr>
              <a:t>进入人工确认或配置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`ON DUPLICATE KEY UPDATE` 缺 keyColumns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`INSERT IGNORE`、`REPLACE INTO` 语义不确定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`${}` 动态表名、列名、SQL 片段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用户变量、复杂日期函数、未支持 AES 形态</a:t>
            </a:r>
          </a:p>
        </p:txBody>
      </p:sp>
      <p:sp>
        <p:nvSpPr>
          <p:cNvPr id="73" name="Shape"/>
          <p:cNvSpPr txBox="1"/>
          <p:nvPr/>
        </p:nvSpPr>
        <p:spPr>
          <a:xfrm>
            <a:off x="650000" y="4200000"/>
            <a:ext cx="505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可配置自动化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配置 `.dm-adapter/sql-rewrite.yml` 的 `keyColumns` 后，可将可确认唯一键的 upsert/ignore 改写为达梦 `MERGE`。</a:t>
            </a:r>
          </a:p>
        </p:txBody>
      </p:sp>
      <p:sp>
        <p:nvSpPr>
          <p:cNvPr id="74" name="Shape"/>
          <p:cNvSpPr txBox="1"/>
          <p:nvPr/>
        </p:nvSpPr>
        <p:spPr>
          <a:xfrm>
            <a:off x="6000000" y="4200000"/>
            <a:ext cx="505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失败分类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缺表、缺视图、缺函数优先归为测试库对象问题；参数无法推断时补验证配置，不把占位值当兼容失败。</a:t>
            </a:r>
          </a:p>
        </p:txBody>
      </p:sp>
      <p:sp>
        <p:nvSpPr>
          <p:cNvPr id="75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76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达梦 SQL 验证测试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生成测试后用真实达梦测试库验证 mapper SQL</a:t>
            </a:r>
          </a:p>
        </p:txBody>
      </p:sp>
      <p:sp>
        <p:nvSpPr>
          <p:cNvPr id="78" name="Shape"/>
          <p:cNvSpPr txBox="1"/>
          <p:nvPr/>
        </p:nvSpPr>
        <p:spPr>
          <a:xfrm>
            <a:off x="650000" y="1230000"/>
            <a:ext cx="5300000" cy="250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t" lIns="100000" tIns="100000" rIns="100000" bIns="100000">
            <a:spAutoFit/>
          </a:bodyPr>
          <a:lstStyle/>
          <a:p>
            <a:pPr algn="l">
              <a:buNone/>
            </a:pPr>
            <a:r>
              <a:rPr lang="zh-CN"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运行方式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DM_SQL_VALIDATION=true \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DM_JDBC_URL=jdbc:dm://host:5236 \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DM_DB_USERNAME=user \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DM_DB_PASSWORD=password \</a:t>
            </a:r>
          </a:p>
          <a:p>
            <a:pPr algn="l">
              <a:buNone/>
            </a:pPr>
            <a:r>
              <a:rPr lang="zh-CN" sz="1000" dirty="0">
                <a:solidFill>
                  <a:srgbClr val="E6FFFA"/>
                </a:solidFill>
                <a:latin typeface="Consolas"/>
                <a:ea typeface="Microsoft YaHei"/>
                <a:cs typeface="Consolas"/>
              </a:rPr>
              <a:t>mvn -Dtest=DmSqlValidationTest test</a:t>
            </a:r>
          </a:p>
        </p:txBody>
      </p:sp>
      <p:sp>
        <p:nvSpPr>
          <p:cNvPr id="79" name="Shape"/>
          <p:cNvSpPr txBox="1"/>
          <p:nvPr/>
        </p:nvSpPr>
        <p:spPr>
          <a:xfrm>
            <a:off x="6400000" y="1230000"/>
            <a:ext cx="5250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验证特点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直接创建 MyBatis `SqlSessionFactory`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不启动 Spring Boot、Web、MQ 或 ShardingSphere Bean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`--schema` 会在 DAO 调用前执行 schema 切换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控制台输出 `[dm-sql-validation]` 进度日志</a:t>
            </a:r>
          </a:p>
        </p:txBody>
      </p:sp>
      <p:sp>
        <p:nvSpPr>
          <p:cNvPr id="80" name="Shape"/>
          <p:cNvSpPr txBox="1"/>
          <p:nvPr/>
        </p:nvSpPr>
        <p:spPr>
          <a:xfrm>
            <a:off x="650000" y="4250000"/>
            <a:ext cx="340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报告输出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Markdown + JSON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通过/失败/跳过统计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长错误进入详情区</a:t>
            </a:r>
          </a:p>
        </p:txBody>
      </p:sp>
      <p:sp>
        <p:nvSpPr>
          <p:cNvPr id="81" name="Shape"/>
          <p:cNvSpPr txBox="1"/>
          <p:nvPr/>
        </p:nvSpPr>
        <p:spPr>
          <a:xfrm>
            <a:off x="4400000" y="4250000"/>
            <a:ext cx="340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处理顺序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先排除连接失败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再看工具可转换规则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再看业务 SQL 与库对象</a:t>
            </a:r>
          </a:p>
        </p:txBody>
      </p:sp>
      <p:sp>
        <p:nvSpPr>
          <p:cNvPr id="82" name="Shape"/>
          <p:cNvSpPr txBox="1"/>
          <p:nvPr/>
        </p:nvSpPr>
        <p:spPr>
          <a:xfrm>
            <a:off x="8150000" y="4250000"/>
            <a:ext cx="3400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B83280"/>
                </a:solidFill>
                <a:latin typeface="Microsoft YaHei"/>
                <a:ea typeface="Microsoft YaHei"/>
                <a:cs typeface="Microsoft YaHei"/>
              </a:rPr>
              <a:t>常见分类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SQL 兼容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测试库结构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参数/数据/约束</a:t>
            </a:r>
          </a:p>
        </p:txBody>
      </p:sp>
      <p:sp>
        <p:nvSpPr>
          <p:cNvPr id="83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84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"/>
          <p:cNvSpPr txBox="1"/>
          <p:nvPr/>
        </p:nvSpPr>
        <p:spPr>
          <a:xfrm>
            <a:off x="450000" y="260000"/>
            <a:ext cx="84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3200" b="1" dirty="0">
                <a:solidFill>
                  <a:srgbClr val="153E75"/>
                </a:solidFill>
                <a:latin typeface="Microsoft YaHei"/>
                <a:ea typeface="Microsoft YaHei"/>
                <a:cs typeface="Microsoft YaHei"/>
              </a:rPr>
              <a:t>落地检查清单</a:t>
            </a:r>
          </a:p>
          <a:p>
            <a:pPr algn="l">
              <a:buNone/>
            </a:pPr>
            <a:r>
              <a:rPr lang="zh-CN" sz="13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每次迁移按同一套检查动作收口</a:t>
            </a:r>
          </a:p>
        </p:txBody>
      </p:sp>
      <p:sp>
        <p:nvSpPr>
          <p:cNvPr id="86" name="Shape"/>
          <p:cNvSpPr txBox="1"/>
          <p:nvPr/>
        </p:nvSpPr>
        <p:spPr>
          <a:xfrm>
            <a:off x="650000" y="1280000"/>
            <a:ext cx="33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执行前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确认目标项目类型匹配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确认达梦实例参数和 schema 策略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构建 CLI 并先运行 `scan`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优先执行 `migrate --dry-run`</a:t>
            </a:r>
          </a:p>
        </p:txBody>
      </p:sp>
      <p:sp>
        <p:nvSpPr>
          <p:cNvPr id="87" name="Shape"/>
          <p:cNvSpPr txBox="1"/>
          <p:nvPr/>
        </p:nvSpPr>
        <p:spPr>
          <a:xfrm>
            <a:off x="4350000" y="1280000"/>
            <a:ext cx="33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6B46C1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看 POM 和 `mapper-dm` diff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重点看人工确认 SQL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补 `sql-rewrite.yml` keyColumns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补动态 SQL 和验证参数</a:t>
            </a:r>
          </a:p>
        </p:txBody>
      </p:sp>
      <p:sp>
        <p:nvSpPr>
          <p:cNvPr id="88" name="Shape"/>
          <p:cNvSpPr txBox="1"/>
          <p:nvPr/>
        </p:nvSpPr>
        <p:spPr>
          <a:xfrm>
            <a:off x="8050000" y="1280000"/>
            <a:ext cx="33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anchor="t" lIns="110000" tIns="110000" rIns="110000" bIns="110000">
            <a:spAutoFit/>
          </a:bodyPr>
          <a:lstStyle/>
          <a:p>
            <a:pPr algn="l">
              <a:buNone/>
            </a:pPr>
            <a:r>
              <a:rPr lang="zh-CN" sz="1800" b="1" dirty="0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提交前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连接达梦测试库跑验证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阅读迁移报告和验证报告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执行目标项目测试</a:t>
            </a:r>
          </a:p>
          <a:p>
            <a:pPr marL="260000" indent="-140000" algn="l">
              <a:buChar char="•"/>
            </a:pPr>
            <a:r>
              <a:rPr lang="zh-CN" sz="1300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保留原 mapper，不提交本地产物</a:t>
            </a:r>
          </a:p>
        </p:txBody>
      </p:sp>
      <p:sp>
        <p:nvSpPr>
          <p:cNvPr id="89" name="Shape"/>
          <p:cNvSpPr txBox="1"/>
          <p:nvPr/>
        </p:nvSpPr>
        <p:spPr>
          <a:xfrm>
            <a:off x="1100000" y="5350000"/>
            <a:ext cx="9900000" cy="52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65000" tIns="65000" rIns="65000" bIns="65000">
            <a:spAutoFit/>
          </a:bodyPr>
          <a:lstStyle/>
          <a:p>
            <a:pPr algn="ctr">
              <a:buNone/>
            </a:pPr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迁移目标：让达梦适配路径可审计、可回滚、可验证，而不是一次性替换原 MySQL 路径</a:t>
            </a:r>
          </a:p>
        </p:txBody>
      </p:sp>
      <p:sp>
        <p:nvSpPr>
          <p:cNvPr id="90" name="Shape"/>
          <p:cNvSpPr txBox="1"/>
          <p:nvPr/>
        </p:nvSpPr>
        <p:spPr>
          <a:xfrm>
            <a:off x="450000" y="6420000"/>
            <a:ext cx="5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dm-adapter 迁移培训</a:t>
            </a:r>
          </a:p>
        </p:txBody>
      </p:sp>
      <p:sp>
        <p:nvSpPr>
          <p:cNvPr id="91" name="Shape"/>
          <p:cNvSpPr txBox="1"/>
          <p:nvPr/>
        </p:nvSpPr>
        <p:spPr>
          <a:xfrm>
            <a:off x="11160000" y="642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buNone/>
            </a:pPr>
            <a:r>
              <a:rPr lang="zh-CN" sz="90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m-adapter">
  <a:themeElements>
    <a:clrScheme name="dm-adapter">
      <a:dk1>
        <a:srgbClr val="102A43"/>
      </a:dk1>
      <a:lt1>
        <a:srgbClr val="FFFFFF"/>
      </a:lt1>
      <a:dk2>
        <a:srgbClr val="153E75"/>
      </a:dk2>
      <a:lt2>
        <a:srgbClr val="F7F9FC"/>
      </a:lt2>
      <a:accent1>
        <a:srgbClr val="2B6CB0"/>
      </a:accent1>
      <a:accent2>
        <a:srgbClr val="2F855A"/>
      </a:accent2>
      <a:accent3>
        <a:srgbClr val="C05621"/>
      </a:accent3>
      <a:accent4>
        <a:srgbClr val="6B46C1"/>
      </a:accent4>
      <a:accent5>
        <a:srgbClr val="007C89"/>
      </a:accent5>
      <a:accent6>
        <a:srgbClr val="B83280"/>
      </a:accent6>
      <a:hlink>
        <a:srgbClr val="2B6CB0"/>
      </a:hlink>
      <a:folHlink>
        <a:srgbClr val="6B46C1"/>
      </a:folHlink>
    </a:clrScheme>
    <a:fontScheme name="dm-adapter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m-adapt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On-screen Show (16:9)</PresentationFormat>
  <Slides>10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到达梦迁移培训：dm-adapter 工具使用与功能说明</dc:title>
  <dc:creator>Codex</dc:creator>
  <cp:lastModifiedBy>Codex</cp:lastModifiedBy>
  <dcterms:created xsi:type="dcterms:W3CDTF">2026-07-02T09:43:34Z</dcterms:created>
  <dcterms:modified xsi:type="dcterms:W3CDTF">2026-07-02T09:43:34Z</dcterms:modified>
</cp:coreProperties>
</file>